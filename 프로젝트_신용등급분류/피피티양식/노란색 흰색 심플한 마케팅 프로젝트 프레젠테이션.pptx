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마카롱" charset="1" panose="02000500020000020003"/>
      <p:regular r:id="rId16"/>
    </p:embeddedFont>
    <p:embeddedFont>
      <p:font typeface="210 디딤고딕 Light" charset="1" panose="02020503020101020101"/>
      <p:regular r:id="rId17"/>
    </p:embeddedFont>
    <p:embeddedFont>
      <p:font typeface="210 디딤고딕" charset="1" panose="02020503020101020101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307" y="1001327"/>
            <a:ext cx="16431386" cy="8284345"/>
            <a:chOff x="0" y="0"/>
            <a:chExt cx="4327608" cy="2181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7608" cy="2181885"/>
            </a:xfrm>
            <a:custGeom>
              <a:avLst/>
              <a:gdLst/>
              <a:ahLst/>
              <a:cxnLst/>
              <a:rect r="r" b="b" t="t" l="l"/>
              <a:pathLst>
                <a:path h="2181885" w="4327608">
                  <a:moveTo>
                    <a:pt x="0" y="0"/>
                  </a:moveTo>
                  <a:lnTo>
                    <a:pt x="4327608" y="0"/>
                  </a:lnTo>
                  <a:lnTo>
                    <a:pt x="4327608" y="2181885"/>
                  </a:lnTo>
                  <a:lnTo>
                    <a:pt x="0" y="2181885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27608" cy="2229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6216" y="756509"/>
            <a:ext cx="1511496" cy="1636705"/>
          </a:xfrm>
          <a:custGeom>
            <a:avLst/>
            <a:gdLst/>
            <a:ahLst/>
            <a:cxnLst/>
            <a:rect r="r" b="b" t="t" l="l"/>
            <a:pathLst>
              <a:path h="1636705" w="1511496">
                <a:moveTo>
                  <a:pt x="0" y="0"/>
                </a:moveTo>
                <a:lnTo>
                  <a:pt x="1511496" y="0"/>
                </a:lnTo>
                <a:lnTo>
                  <a:pt x="1511496" y="1636705"/>
                </a:lnTo>
                <a:lnTo>
                  <a:pt x="0" y="16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521" t="0" r="-1130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60313" y="3429570"/>
            <a:ext cx="9567375" cy="330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28"/>
              </a:lnSpc>
            </a:pPr>
            <a:r>
              <a:rPr lang="en-US" sz="10099">
                <a:solidFill>
                  <a:srgbClr val="34332C"/>
                </a:solidFill>
                <a:latin typeface="마카롱"/>
                <a:ea typeface="마카롱"/>
                <a:cs typeface="마카롱"/>
                <a:sym typeface="마카롱"/>
              </a:rPr>
              <a:t>그룹 프로젝트</a:t>
            </a:r>
          </a:p>
          <a:p>
            <a:pPr algn="ctr">
              <a:lnSpc>
                <a:spcPts val="13028"/>
              </a:lnSpc>
            </a:pPr>
            <a:r>
              <a:rPr lang="en-US" sz="10099">
                <a:solidFill>
                  <a:srgbClr val="34332C"/>
                </a:solidFill>
                <a:latin typeface="마카롱"/>
                <a:ea typeface="마카롱"/>
                <a:cs typeface="마카롱"/>
                <a:sym typeface="마카롱"/>
              </a:rPr>
              <a:t>프레젠테이션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96976" y="8527797"/>
            <a:ext cx="1704301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발표자 이수진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06704" y="8527797"/>
            <a:ext cx="3016821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hello@reallygreatsite.com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34316" y="1515310"/>
            <a:ext cx="4039366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Group Project Presentation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660267" y="8195872"/>
            <a:ext cx="14967466" cy="0"/>
          </a:xfrm>
          <a:prstGeom prst="line">
            <a:avLst/>
          </a:prstGeom>
          <a:ln cap="flat" w="19050">
            <a:solidFill>
              <a:srgbClr val="3433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 flipV="true">
            <a:off x="7189879" y="8603997"/>
            <a:ext cx="0" cy="312039"/>
          </a:xfrm>
          <a:prstGeom prst="line">
            <a:avLst/>
          </a:prstGeom>
          <a:ln cap="flat" w="19050">
            <a:solidFill>
              <a:srgbClr val="3433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 flipV="true">
            <a:off x="10669583" y="8603997"/>
            <a:ext cx="0" cy="312039"/>
          </a:xfrm>
          <a:prstGeom prst="line">
            <a:avLst/>
          </a:prstGeom>
          <a:ln cap="flat" w="19050">
            <a:solidFill>
              <a:srgbClr val="3433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0964858" y="8527797"/>
            <a:ext cx="2026166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+123-456-7890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307" y="1001327"/>
            <a:ext cx="16431386" cy="8284345"/>
            <a:chOff x="0" y="0"/>
            <a:chExt cx="4327608" cy="2181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7608" cy="2181885"/>
            </a:xfrm>
            <a:custGeom>
              <a:avLst/>
              <a:gdLst/>
              <a:ahLst/>
              <a:cxnLst/>
              <a:rect r="r" b="b" t="t" l="l"/>
              <a:pathLst>
                <a:path h="2181885" w="4327608">
                  <a:moveTo>
                    <a:pt x="0" y="0"/>
                  </a:moveTo>
                  <a:lnTo>
                    <a:pt x="4327608" y="0"/>
                  </a:lnTo>
                  <a:lnTo>
                    <a:pt x="4327608" y="2181885"/>
                  </a:lnTo>
                  <a:lnTo>
                    <a:pt x="0" y="2181885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27608" cy="2229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6216" y="756509"/>
            <a:ext cx="1511496" cy="1636705"/>
          </a:xfrm>
          <a:custGeom>
            <a:avLst/>
            <a:gdLst/>
            <a:ahLst/>
            <a:cxnLst/>
            <a:rect r="r" b="b" t="t" l="l"/>
            <a:pathLst>
              <a:path h="1636705" w="1511496">
                <a:moveTo>
                  <a:pt x="0" y="0"/>
                </a:moveTo>
                <a:lnTo>
                  <a:pt x="1511496" y="0"/>
                </a:lnTo>
                <a:lnTo>
                  <a:pt x="1511496" y="1636705"/>
                </a:lnTo>
                <a:lnTo>
                  <a:pt x="0" y="16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521" t="0" r="-1130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686082" y="2633687"/>
            <a:ext cx="6915837" cy="119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17"/>
              </a:lnSpc>
            </a:pPr>
            <a:r>
              <a:rPr lang="en-US" sz="7300">
                <a:solidFill>
                  <a:srgbClr val="34332C"/>
                </a:solidFill>
                <a:latin typeface="마카롱"/>
                <a:ea typeface="마카롱"/>
                <a:cs typeface="마카롱"/>
                <a:sym typeface="마카롱"/>
              </a:rPr>
              <a:t>CONTENTS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34316" y="1515310"/>
            <a:ext cx="4039366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Group Project Presentation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618588" y="4642970"/>
            <a:ext cx="5090436" cy="887178"/>
            <a:chOff x="0" y="0"/>
            <a:chExt cx="1340691" cy="2336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0691" cy="233660"/>
            </a:xfrm>
            <a:custGeom>
              <a:avLst/>
              <a:gdLst/>
              <a:ahLst/>
              <a:cxnLst/>
              <a:rect r="r" b="b" t="t" l="l"/>
              <a:pathLst>
                <a:path h="233660" w="1340691">
                  <a:moveTo>
                    <a:pt x="0" y="0"/>
                  </a:moveTo>
                  <a:lnTo>
                    <a:pt x="1340691" y="0"/>
                  </a:lnTo>
                  <a:lnTo>
                    <a:pt x="1340691" y="233660"/>
                  </a:lnTo>
                  <a:lnTo>
                    <a:pt x="0" y="233660"/>
                  </a:lnTo>
                  <a:close/>
                </a:path>
              </a:pathLst>
            </a:custGeom>
            <a:solidFill>
              <a:srgbClr val="FFF8DE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340691" cy="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78976" y="4644226"/>
            <a:ext cx="5090436" cy="887178"/>
            <a:chOff x="0" y="0"/>
            <a:chExt cx="1340691" cy="2336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0691" cy="233660"/>
            </a:xfrm>
            <a:custGeom>
              <a:avLst/>
              <a:gdLst/>
              <a:ahLst/>
              <a:cxnLst/>
              <a:rect r="r" b="b" t="t" l="l"/>
              <a:pathLst>
                <a:path h="233660" w="1340691">
                  <a:moveTo>
                    <a:pt x="0" y="0"/>
                  </a:moveTo>
                  <a:lnTo>
                    <a:pt x="1340691" y="0"/>
                  </a:lnTo>
                  <a:lnTo>
                    <a:pt x="1340691" y="233660"/>
                  </a:lnTo>
                  <a:lnTo>
                    <a:pt x="0" y="233660"/>
                  </a:lnTo>
                  <a:close/>
                </a:path>
              </a:pathLst>
            </a:custGeom>
            <a:solidFill>
              <a:srgbClr val="FFF8DE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340691" cy="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618588" y="5837460"/>
            <a:ext cx="5090436" cy="887178"/>
            <a:chOff x="0" y="0"/>
            <a:chExt cx="1340691" cy="2336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0691" cy="233660"/>
            </a:xfrm>
            <a:custGeom>
              <a:avLst/>
              <a:gdLst/>
              <a:ahLst/>
              <a:cxnLst/>
              <a:rect r="r" b="b" t="t" l="l"/>
              <a:pathLst>
                <a:path h="233660" w="1340691">
                  <a:moveTo>
                    <a:pt x="0" y="0"/>
                  </a:moveTo>
                  <a:lnTo>
                    <a:pt x="1340691" y="0"/>
                  </a:lnTo>
                  <a:lnTo>
                    <a:pt x="1340691" y="233660"/>
                  </a:lnTo>
                  <a:lnTo>
                    <a:pt x="0" y="233660"/>
                  </a:lnTo>
                  <a:close/>
                </a:path>
              </a:pathLst>
            </a:custGeom>
            <a:solidFill>
              <a:srgbClr val="FFF8DE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340691" cy="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78976" y="5838717"/>
            <a:ext cx="5090436" cy="887178"/>
            <a:chOff x="0" y="0"/>
            <a:chExt cx="1340691" cy="2336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0691" cy="233660"/>
            </a:xfrm>
            <a:custGeom>
              <a:avLst/>
              <a:gdLst/>
              <a:ahLst/>
              <a:cxnLst/>
              <a:rect r="r" b="b" t="t" l="l"/>
              <a:pathLst>
                <a:path h="233660" w="1340691">
                  <a:moveTo>
                    <a:pt x="0" y="0"/>
                  </a:moveTo>
                  <a:lnTo>
                    <a:pt x="1340691" y="0"/>
                  </a:lnTo>
                  <a:lnTo>
                    <a:pt x="1340691" y="233660"/>
                  </a:lnTo>
                  <a:lnTo>
                    <a:pt x="0" y="233660"/>
                  </a:lnTo>
                  <a:close/>
                </a:path>
              </a:pathLst>
            </a:custGeom>
            <a:solidFill>
              <a:srgbClr val="FFF8DE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340691" cy="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618588" y="7029439"/>
            <a:ext cx="5090436" cy="887178"/>
            <a:chOff x="0" y="0"/>
            <a:chExt cx="1340691" cy="2336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0691" cy="233660"/>
            </a:xfrm>
            <a:custGeom>
              <a:avLst/>
              <a:gdLst/>
              <a:ahLst/>
              <a:cxnLst/>
              <a:rect r="r" b="b" t="t" l="l"/>
              <a:pathLst>
                <a:path h="233660" w="1340691">
                  <a:moveTo>
                    <a:pt x="0" y="0"/>
                  </a:moveTo>
                  <a:lnTo>
                    <a:pt x="1340691" y="0"/>
                  </a:lnTo>
                  <a:lnTo>
                    <a:pt x="1340691" y="233660"/>
                  </a:lnTo>
                  <a:lnTo>
                    <a:pt x="0" y="233660"/>
                  </a:lnTo>
                  <a:close/>
                </a:path>
              </a:pathLst>
            </a:custGeom>
            <a:solidFill>
              <a:srgbClr val="FFF8DE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340691" cy="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78976" y="7030695"/>
            <a:ext cx="5090436" cy="887178"/>
            <a:chOff x="0" y="0"/>
            <a:chExt cx="1340691" cy="2336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40691" cy="233660"/>
            </a:xfrm>
            <a:custGeom>
              <a:avLst/>
              <a:gdLst/>
              <a:ahLst/>
              <a:cxnLst/>
              <a:rect r="r" b="b" t="t" l="l"/>
              <a:pathLst>
                <a:path h="233660" w="1340691">
                  <a:moveTo>
                    <a:pt x="0" y="0"/>
                  </a:moveTo>
                  <a:lnTo>
                    <a:pt x="1340691" y="0"/>
                  </a:lnTo>
                  <a:lnTo>
                    <a:pt x="1340691" y="233660"/>
                  </a:lnTo>
                  <a:lnTo>
                    <a:pt x="0" y="233660"/>
                  </a:lnTo>
                  <a:close/>
                </a:path>
              </a:pathLst>
            </a:custGeom>
            <a:solidFill>
              <a:srgbClr val="FFF8DE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340691" cy="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4813571" y="4778520"/>
            <a:ext cx="3245306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그룹 소개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773960" y="4779776"/>
            <a:ext cx="3498683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프로젝트 진행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813571" y="5973011"/>
            <a:ext cx="3245306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프로젝트 소개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773960" y="5974267"/>
            <a:ext cx="3498683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프로젝트 성과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813571" y="7164989"/>
            <a:ext cx="3245306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프로젝트 목표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773960" y="7166245"/>
            <a:ext cx="3498683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프로젝트 발전 방향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937294" y="4778520"/>
            <a:ext cx="534059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01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97682" y="4779776"/>
            <a:ext cx="534059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04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937294" y="5973011"/>
            <a:ext cx="534059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02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897682" y="5974267"/>
            <a:ext cx="534059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05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937294" y="7164989"/>
            <a:ext cx="534059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03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97682" y="7166245"/>
            <a:ext cx="534059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307" y="1001327"/>
            <a:ext cx="16431386" cy="8284345"/>
            <a:chOff x="0" y="0"/>
            <a:chExt cx="4327608" cy="2181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7608" cy="2181885"/>
            </a:xfrm>
            <a:custGeom>
              <a:avLst/>
              <a:gdLst/>
              <a:ahLst/>
              <a:cxnLst/>
              <a:rect r="r" b="b" t="t" l="l"/>
              <a:pathLst>
                <a:path h="2181885" w="4327608">
                  <a:moveTo>
                    <a:pt x="0" y="0"/>
                  </a:moveTo>
                  <a:lnTo>
                    <a:pt x="4327608" y="0"/>
                  </a:lnTo>
                  <a:lnTo>
                    <a:pt x="4327608" y="2181885"/>
                  </a:lnTo>
                  <a:lnTo>
                    <a:pt x="0" y="2181885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27608" cy="2229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6216" y="756509"/>
            <a:ext cx="1511496" cy="1636705"/>
          </a:xfrm>
          <a:custGeom>
            <a:avLst/>
            <a:gdLst/>
            <a:ahLst/>
            <a:cxnLst/>
            <a:rect r="r" b="b" t="t" l="l"/>
            <a:pathLst>
              <a:path h="1636705" w="1511496">
                <a:moveTo>
                  <a:pt x="0" y="0"/>
                </a:moveTo>
                <a:lnTo>
                  <a:pt x="1511496" y="0"/>
                </a:lnTo>
                <a:lnTo>
                  <a:pt x="1511496" y="1636705"/>
                </a:lnTo>
                <a:lnTo>
                  <a:pt x="0" y="16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521" t="0" r="-11307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104549" y="3457979"/>
            <a:ext cx="3347304" cy="4962768"/>
            <a:chOff x="0" y="0"/>
            <a:chExt cx="784633" cy="11633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4633" cy="1163310"/>
            </a:xfrm>
            <a:custGeom>
              <a:avLst/>
              <a:gdLst/>
              <a:ahLst/>
              <a:cxnLst/>
              <a:rect r="r" b="b" t="t" l="l"/>
              <a:pathLst>
                <a:path h="1163310" w="784633">
                  <a:moveTo>
                    <a:pt x="0" y="0"/>
                  </a:moveTo>
                  <a:lnTo>
                    <a:pt x="784633" y="0"/>
                  </a:lnTo>
                  <a:lnTo>
                    <a:pt x="784633" y="1163310"/>
                  </a:lnTo>
                  <a:lnTo>
                    <a:pt x="0" y="1163310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784633" cy="1210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686082" y="3457979"/>
            <a:ext cx="3347304" cy="4962768"/>
            <a:chOff x="0" y="0"/>
            <a:chExt cx="784633" cy="11633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4633" cy="1163310"/>
            </a:xfrm>
            <a:custGeom>
              <a:avLst/>
              <a:gdLst/>
              <a:ahLst/>
              <a:cxnLst/>
              <a:rect r="r" b="b" t="t" l="l"/>
              <a:pathLst>
                <a:path h="1163310" w="784633">
                  <a:moveTo>
                    <a:pt x="0" y="0"/>
                  </a:moveTo>
                  <a:lnTo>
                    <a:pt x="784633" y="0"/>
                  </a:lnTo>
                  <a:lnTo>
                    <a:pt x="784633" y="1163310"/>
                  </a:lnTo>
                  <a:lnTo>
                    <a:pt x="0" y="1163310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784633" cy="1210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71510" y="3457979"/>
            <a:ext cx="3347304" cy="4962768"/>
            <a:chOff x="0" y="0"/>
            <a:chExt cx="784633" cy="11633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4633" cy="1163310"/>
            </a:xfrm>
            <a:custGeom>
              <a:avLst/>
              <a:gdLst/>
              <a:ahLst/>
              <a:cxnLst/>
              <a:rect r="r" b="b" t="t" l="l"/>
              <a:pathLst>
                <a:path h="1163310" w="784633">
                  <a:moveTo>
                    <a:pt x="0" y="0"/>
                  </a:moveTo>
                  <a:lnTo>
                    <a:pt x="784633" y="0"/>
                  </a:lnTo>
                  <a:lnTo>
                    <a:pt x="784633" y="1163310"/>
                  </a:lnTo>
                  <a:lnTo>
                    <a:pt x="0" y="1163310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784633" cy="1210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856939" y="3457979"/>
            <a:ext cx="3347304" cy="4962768"/>
            <a:chOff x="0" y="0"/>
            <a:chExt cx="784633" cy="11633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4633" cy="1163310"/>
            </a:xfrm>
            <a:custGeom>
              <a:avLst/>
              <a:gdLst/>
              <a:ahLst/>
              <a:cxnLst/>
              <a:rect r="r" b="b" t="t" l="l"/>
              <a:pathLst>
                <a:path h="1163310" w="784633">
                  <a:moveTo>
                    <a:pt x="0" y="0"/>
                  </a:moveTo>
                  <a:lnTo>
                    <a:pt x="784633" y="0"/>
                  </a:lnTo>
                  <a:lnTo>
                    <a:pt x="784633" y="1163310"/>
                  </a:lnTo>
                  <a:lnTo>
                    <a:pt x="0" y="1163310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784633" cy="1210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285272" y="3624969"/>
            <a:ext cx="2985858" cy="2242393"/>
            <a:chOff x="0" y="0"/>
            <a:chExt cx="462588" cy="3474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2588" cy="347405"/>
            </a:xfrm>
            <a:custGeom>
              <a:avLst/>
              <a:gdLst/>
              <a:ahLst/>
              <a:cxnLst/>
              <a:rect r="r" b="b" t="t" l="l"/>
              <a:pathLst>
                <a:path h="347405" w="462588">
                  <a:moveTo>
                    <a:pt x="0" y="0"/>
                  </a:moveTo>
                  <a:lnTo>
                    <a:pt x="462588" y="0"/>
                  </a:lnTo>
                  <a:lnTo>
                    <a:pt x="462588" y="347405"/>
                  </a:lnTo>
                  <a:lnTo>
                    <a:pt x="0" y="347405"/>
                  </a:lnTo>
                  <a:close/>
                </a:path>
              </a:pathLst>
            </a:custGeom>
            <a:blipFill>
              <a:blip r:embed="rId4"/>
              <a:stretch>
                <a:fillRect l="-6360" t="0" r="-636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866804" y="3624969"/>
            <a:ext cx="2985858" cy="2242393"/>
            <a:chOff x="0" y="0"/>
            <a:chExt cx="462588" cy="34740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62588" cy="347405"/>
            </a:xfrm>
            <a:custGeom>
              <a:avLst/>
              <a:gdLst/>
              <a:ahLst/>
              <a:cxnLst/>
              <a:rect r="r" b="b" t="t" l="l"/>
              <a:pathLst>
                <a:path h="347405" w="462588">
                  <a:moveTo>
                    <a:pt x="0" y="0"/>
                  </a:moveTo>
                  <a:lnTo>
                    <a:pt x="462588" y="0"/>
                  </a:lnTo>
                  <a:lnTo>
                    <a:pt x="462588" y="347405"/>
                  </a:lnTo>
                  <a:lnTo>
                    <a:pt x="0" y="347405"/>
                  </a:lnTo>
                  <a:close/>
                </a:path>
              </a:pathLst>
            </a:custGeom>
            <a:blipFill>
              <a:blip r:embed="rId5"/>
              <a:stretch>
                <a:fillRect l="-43335" t="-3746" r="-37932" b="-5706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452233" y="3624969"/>
            <a:ext cx="2985858" cy="2242393"/>
            <a:chOff x="0" y="0"/>
            <a:chExt cx="462588" cy="34740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62588" cy="347405"/>
            </a:xfrm>
            <a:custGeom>
              <a:avLst/>
              <a:gdLst/>
              <a:ahLst/>
              <a:cxnLst/>
              <a:rect r="r" b="b" t="t" l="l"/>
              <a:pathLst>
                <a:path h="347405" w="462588">
                  <a:moveTo>
                    <a:pt x="0" y="0"/>
                  </a:moveTo>
                  <a:lnTo>
                    <a:pt x="462588" y="0"/>
                  </a:lnTo>
                  <a:lnTo>
                    <a:pt x="462588" y="347405"/>
                  </a:lnTo>
                  <a:lnTo>
                    <a:pt x="0" y="347405"/>
                  </a:lnTo>
                  <a:close/>
                </a:path>
              </a:pathLst>
            </a:custGeom>
            <a:blipFill>
              <a:blip r:embed="rId6"/>
              <a:stretch>
                <a:fillRect l="-71384" t="-14449" r="-30664" b="-64798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037662" y="3624969"/>
            <a:ext cx="2985858" cy="2242393"/>
            <a:chOff x="0" y="0"/>
            <a:chExt cx="462588" cy="34740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2588" cy="347405"/>
            </a:xfrm>
            <a:custGeom>
              <a:avLst/>
              <a:gdLst/>
              <a:ahLst/>
              <a:cxnLst/>
              <a:rect r="r" b="b" t="t" l="l"/>
              <a:pathLst>
                <a:path h="347405" w="462588">
                  <a:moveTo>
                    <a:pt x="0" y="0"/>
                  </a:moveTo>
                  <a:lnTo>
                    <a:pt x="462588" y="0"/>
                  </a:lnTo>
                  <a:lnTo>
                    <a:pt x="462588" y="347405"/>
                  </a:lnTo>
                  <a:lnTo>
                    <a:pt x="0" y="347405"/>
                  </a:lnTo>
                  <a:close/>
                </a:path>
              </a:pathLst>
            </a:custGeom>
            <a:blipFill>
              <a:blip r:embed="rId7"/>
              <a:stretch>
                <a:fillRect l="-47264" t="0" r="-11183" b="-40566"/>
              </a:stretch>
            </a:blipFill>
          </p:spPr>
        </p:sp>
      </p:grpSp>
      <p:sp>
        <p:nvSpPr>
          <p:cNvPr name="AutoShape 26" id="26"/>
          <p:cNvSpPr/>
          <p:nvPr/>
        </p:nvSpPr>
        <p:spPr>
          <a:xfrm>
            <a:off x="3607853" y="6238533"/>
            <a:ext cx="0" cy="383667"/>
          </a:xfrm>
          <a:prstGeom prst="line">
            <a:avLst/>
          </a:prstGeom>
          <a:ln cap="flat" w="47625">
            <a:solidFill>
              <a:srgbClr val="FFDF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7189385" y="6238533"/>
            <a:ext cx="0" cy="383667"/>
          </a:xfrm>
          <a:prstGeom prst="line">
            <a:avLst/>
          </a:prstGeom>
          <a:ln cap="flat" w="47625">
            <a:solidFill>
              <a:srgbClr val="FFDF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10774814" y="6238533"/>
            <a:ext cx="0" cy="383667"/>
          </a:xfrm>
          <a:prstGeom prst="line">
            <a:avLst/>
          </a:prstGeom>
          <a:ln cap="flat" w="47625">
            <a:solidFill>
              <a:srgbClr val="FFDF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14360242" y="6238533"/>
            <a:ext cx="0" cy="383667"/>
          </a:xfrm>
          <a:prstGeom prst="line">
            <a:avLst/>
          </a:prstGeom>
          <a:ln cap="flat" w="47625">
            <a:solidFill>
              <a:srgbClr val="FFDF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5686082" y="1753642"/>
            <a:ext cx="6915837" cy="119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17"/>
              </a:lnSpc>
            </a:pPr>
            <a:r>
              <a:rPr lang="en-US" sz="7300">
                <a:solidFill>
                  <a:srgbClr val="34332C"/>
                </a:solidFill>
                <a:latin typeface="마카롱"/>
                <a:ea typeface="마카롱"/>
                <a:cs typeface="마카롱"/>
                <a:sym typeface="마카롱"/>
              </a:rPr>
              <a:t>그룹소개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534316" y="1515310"/>
            <a:ext cx="4039366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Group Project Presentation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399274" y="6122328"/>
            <a:ext cx="1103051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이수진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980807" y="6122328"/>
            <a:ext cx="1103051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김민수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66235" y="6122328"/>
            <a:ext cx="1103051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박철수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151664" y="6122328"/>
            <a:ext cx="1103051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전해원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791303" y="6233961"/>
            <a:ext cx="1319056" cy="35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  <a:spcBef>
                <a:spcPct val="0"/>
              </a:spcBef>
            </a:pPr>
            <a:r>
              <a:rPr lang="en-US" sz="19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팀리더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372835" y="6233961"/>
            <a:ext cx="1319056" cy="35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  <a:spcBef>
                <a:spcPct val="0"/>
              </a:spcBef>
            </a:pPr>
            <a:r>
              <a:rPr lang="en-US" sz="19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조사 및 분석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958264" y="6233961"/>
            <a:ext cx="1319056" cy="35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7"/>
              </a:lnSpc>
              <a:spcBef>
                <a:spcPct val="0"/>
              </a:spcBef>
            </a:pPr>
            <a:r>
              <a:rPr lang="en-US" sz="1900" strike="noStrike" u="none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디자인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543692" y="6233961"/>
            <a:ext cx="1319056" cy="35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7"/>
              </a:lnSpc>
              <a:spcBef>
                <a:spcPct val="0"/>
              </a:spcBef>
            </a:pPr>
            <a:r>
              <a:rPr lang="en-US" sz="1900" strike="noStrike" u="none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실행 및 실험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399274" y="6919380"/>
            <a:ext cx="2711084" cy="1188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프로젝트 관리 및 전체적인 진행 상황 모니터링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980807" y="6919380"/>
            <a:ext cx="2711084" cy="788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프로젝트와 관련된 자료 조사 및 데이터 수집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566235" y="6919380"/>
            <a:ext cx="2711084" cy="788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프레젠테이션 디자인 및 시각 자료 제작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151664" y="6919380"/>
            <a:ext cx="2711084" cy="788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프로젝트 관련 실험 및 실행 계획 수립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307" y="1001327"/>
            <a:ext cx="16431386" cy="8284345"/>
            <a:chOff x="0" y="0"/>
            <a:chExt cx="4327608" cy="2181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7608" cy="2181885"/>
            </a:xfrm>
            <a:custGeom>
              <a:avLst/>
              <a:gdLst/>
              <a:ahLst/>
              <a:cxnLst/>
              <a:rect r="r" b="b" t="t" l="l"/>
              <a:pathLst>
                <a:path h="2181885" w="4327608">
                  <a:moveTo>
                    <a:pt x="0" y="0"/>
                  </a:moveTo>
                  <a:lnTo>
                    <a:pt x="4327608" y="0"/>
                  </a:lnTo>
                  <a:lnTo>
                    <a:pt x="4327608" y="2181885"/>
                  </a:lnTo>
                  <a:lnTo>
                    <a:pt x="0" y="2181885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27608" cy="2229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6216" y="756509"/>
            <a:ext cx="1511496" cy="1636705"/>
          </a:xfrm>
          <a:custGeom>
            <a:avLst/>
            <a:gdLst/>
            <a:ahLst/>
            <a:cxnLst/>
            <a:rect r="r" b="b" t="t" l="l"/>
            <a:pathLst>
              <a:path h="1636705" w="1511496">
                <a:moveTo>
                  <a:pt x="0" y="0"/>
                </a:moveTo>
                <a:lnTo>
                  <a:pt x="1511496" y="0"/>
                </a:lnTo>
                <a:lnTo>
                  <a:pt x="1511496" y="1636705"/>
                </a:lnTo>
                <a:lnTo>
                  <a:pt x="0" y="16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521" t="0" r="-11307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249442" y="3635342"/>
            <a:ext cx="8712529" cy="4962768"/>
            <a:chOff x="0" y="0"/>
            <a:chExt cx="2042281" cy="11633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2281" cy="1163310"/>
            </a:xfrm>
            <a:custGeom>
              <a:avLst/>
              <a:gdLst/>
              <a:ahLst/>
              <a:cxnLst/>
              <a:rect r="r" b="b" t="t" l="l"/>
              <a:pathLst>
                <a:path h="1163310" w="2042281">
                  <a:moveTo>
                    <a:pt x="0" y="0"/>
                  </a:moveTo>
                  <a:lnTo>
                    <a:pt x="2042281" y="0"/>
                  </a:lnTo>
                  <a:lnTo>
                    <a:pt x="2042281" y="1163310"/>
                  </a:lnTo>
                  <a:lnTo>
                    <a:pt x="0" y="1163310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042281" cy="1239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0" indent="0" lvl="0">
                <a:lnSpc>
                  <a:spcPts val="321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26029" y="3635342"/>
            <a:ext cx="4744706" cy="4962768"/>
            <a:chOff x="0" y="0"/>
            <a:chExt cx="735079" cy="7688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5079" cy="768863"/>
            </a:xfrm>
            <a:custGeom>
              <a:avLst/>
              <a:gdLst/>
              <a:ahLst/>
              <a:cxnLst/>
              <a:rect r="r" b="b" t="t" l="l"/>
              <a:pathLst>
                <a:path h="768863" w="735079">
                  <a:moveTo>
                    <a:pt x="0" y="0"/>
                  </a:moveTo>
                  <a:lnTo>
                    <a:pt x="735079" y="0"/>
                  </a:lnTo>
                  <a:lnTo>
                    <a:pt x="735079" y="768863"/>
                  </a:lnTo>
                  <a:lnTo>
                    <a:pt x="0" y="768863"/>
                  </a:lnTo>
                  <a:close/>
                </a:path>
              </a:pathLst>
            </a:custGeom>
            <a:blipFill>
              <a:blip r:embed="rId4"/>
              <a:stretch>
                <a:fillRect l="0" t="-19358" r="0" b="-2387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686082" y="1753642"/>
            <a:ext cx="6915837" cy="119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17"/>
              </a:lnSpc>
            </a:pPr>
            <a:r>
              <a:rPr lang="en-US" sz="7300">
                <a:solidFill>
                  <a:srgbClr val="34332C"/>
                </a:solidFill>
                <a:latin typeface="마카롱"/>
                <a:ea typeface="마카롱"/>
                <a:cs typeface="마카롱"/>
                <a:sym typeface="마카롱"/>
              </a:rPr>
              <a:t>프로젝트 소개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34316" y="1515310"/>
            <a:ext cx="4039366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Group Project Presentation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63156" y="5350779"/>
            <a:ext cx="7485100" cy="2788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3"/>
              </a:lnSpc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이번 그룹 프로젝트는 새로운 제품 출시에 대한 마케팅 전략을 수립하는 것을 목표로 하고 있습니다. 최근 시장 경쟁이 치열해지면서, 효과적인 마케팅 전략이 제품의 성공 여부를 결정하는 중요한 요소로 부각되고 있습니다. </a:t>
            </a:r>
          </a:p>
          <a:p>
            <a:pPr algn="just">
              <a:lnSpc>
                <a:spcPts val="3213"/>
              </a:lnSpc>
            </a:pPr>
          </a:p>
          <a:p>
            <a:pPr algn="just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이를 통해 목표 고객에게 제품의 가치를 효과적으로 전달하고, 시장 점유율을 높이는 데 기여하고자 합니다.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863156" y="4123090"/>
            <a:ext cx="7485100" cy="868643"/>
            <a:chOff x="0" y="0"/>
            <a:chExt cx="1754563" cy="2036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54563" cy="203616"/>
            </a:xfrm>
            <a:custGeom>
              <a:avLst/>
              <a:gdLst/>
              <a:ahLst/>
              <a:cxnLst/>
              <a:rect r="r" b="b" t="t" l="l"/>
              <a:pathLst>
                <a:path h="203616" w="1754563">
                  <a:moveTo>
                    <a:pt x="0" y="0"/>
                  </a:moveTo>
                  <a:lnTo>
                    <a:pt x="1754563" y="0"/>
                  </a:lnTo>
                  <a:lnTo>
                    <a:pt x="1754563" y="203616"/>
                  </a:lnTo>
                  <a:lnTo>
                    <a:pt x="0" y="203616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754563" cy="251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436468" y="4249373"/>
            <a:ext cx="6911789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83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새로운 제품 출시에 대한 마케팅 전략 수립</a:t>
            </a:r>
          </a:p>
        </p:txBody>
      </p:sp>
      <p:sp>
        <p:nvSpPr>
          <p:cNvPr name="AutoShape 18" id="18"/>
          <p:cNvSpPr/>
          <p:nvPr/>
        </p:nvSpPr>
        <p:spPr>
          <a:xfrm>
            <a:off x="8164880" y="4365578"/>
            <a:ext cx="0" cy="383667"/>
          </a:xfrm>
          <a:prstGeom prst="line">
            <a:avLst/>
          </a:prstGeom>
          <a:ln cap="flat" w="47625">
            <a:solidFill>
              <a:srgbClr val="FFDF6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307" y="1001327"/>
            <a:ext cx="16431386" cy="8284345"/>
            <a:chOff x="0" y="0"/>
            <a:chExt cx="4327608" cy="2181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7608" cy="2181885"/>
            </a:xfrm>
            <a:custGeom>
              <a:avLst/>
              <a:gdLst/>
              <a:ahLst/>
              <a:cxnLst/>
              <a:rect r="r" b="b" t="t" l="l"/>
              <a:pathLst>
                <a:path h="2181885" w="4327608">
                  <a:moveTo>
                    <a:pt x="0" y="0"/>
                  </a:moveTo>
                  <a:lnTo>
                    <a:pt x="4327608" y="0"/>
                  </a:lnTo>
                  <a:lnTo>
                    <a:pt x="4327608" y="2181885"/>
                  </a:lnTo>
                  <a:lnTo>
                    <a:pt x="0" y="2181885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27608" cy="2229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6216" y="756509"/>
            <a:ext cx="1511496" cy="1636705"/>
          </a:xfrm>
          <a:custGeom>
            <a:avLst/>
            <a:gdLst/>
            <a:ahLst/>
            <a:cxnLst/>
            <a:rect r="r" b="b" t="t" l="l"/>
            <a:pathLst>
              <a:path h="1636705" w="1511496">
                <a:moveTo>
                  <a:pt x="0" y="0"/>
                </a:moveTo>
                <a:lnTo>
                  <a:pt x="1511496" y="0"/>
                </a:lnTo>
                <a:lnTo>
                  <a:pt x="1511496" y="1636705"/>
                </a:lnTo>
                <a:lnTo>
                  <a:pt x="0" y="16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521" t="0" r="-11307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018815" y="4736334"/>
            <a:ext cx="4585023" cy="3322162"/>
            <a:chOff x="0" y="0"/>
            <a:chExt cx="1074763" cy="7787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4763" cy="778739"/>
            </a:xfrm>
            <a:custGeom>
              <a:avLst/>
              <a:gdLst/>
              <a:ahLst/>
              <a:cxnLst/>
              <a:rect r="r" b="b" t="t" l="l"/>
              <a:pathLst>
                <a:path h="778739" w="1074763">
                  <a:moveTo>
                    <a:pt x="0" y="0"/>
                  </a:moveTo>
                  <a:lnTo>
                    <a:pt x="1074763" y="0"/>
                  </a:lnTo>
                  <a:lnTo>
                    <a:pt x="1074763" y="778739"/>
                  </a:lnTo>
                  <a:lnTo>
                    <a:pt x="0" y="778739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1074763" cy="854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0" indent="0" lvl="0">
                <a:lnSpc>
                  <a:spcPts val="321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1488" y="4736334"/>
            <a:ext cx="4585023" cy="3322162"/>
            <a:chOff x="0" y="0"/>
            <a:chExt cx="1074763" cy="7787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4763" cy="778739"/>
            </a:xfrm>
            <a:custGeom>
              <a:avLst/>
              <a:gdLst/>
              <a:ahLst/>
              <a:cxnLst/>
              <a:rect r="r" b="b" t="t" l="l"/>
              <a:pathLst>
                <a:path h="778739" w="1074763">
                  <a:moveTo>
                    <a:pt x="0" y="0"/>
                  </a:moveTo>
                  <a:lnTo>
                    <a:pt x="1074763" y="0"/>
                  </a:lnTo>
                  <a:lnTo>
                    <a:pt x="1074763" y="778739"/>
                  </a:lnTo>
                  <a:lnTo>
                    <a:pt x="0" y="778739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074763" cy="854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0" indent="0" lvl="0">
                <a:lnSpc>
                  <a:spcPts val="321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684162" y="4736334"/>
            <a:ext cx="4585023" cy="3322162"/>
            <a:chOff x="0" y="0"/>
            <a:chExt cx="1074763" cy="7787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4763" cy="778739"/>
            </a:xfrm>
            <a:custGeom>
              <a:avLst/>
              <a:gdLst/>
              <a:ahLst/>
              <a:cxnLst/>
              <a:rect r="r" b="b" t="t" l="l"/>
              <a:pathLst>
                <a:path h="778739" w="1074763">
                  <a:moveTo>
                    <a:pt x="0" y="0"/>
                  </a:moveTo>
                  <a:lnTo>
                    <a:pt x="1074763" y="0"/>
                  </a:lnTo>
                  <a:lnTo>
                    <a:pt x="1074763" y="778739"/>
                  </a:lnTo>
                  <a:lnTo>
                    <a:pt x="0" y="778739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1074763" cy="854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0" indent="0" lvl="0">
                <a:lnSpc>
                  <a:spcPts val="321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686082" y="1753642"/>
            <a:ext cx="6915837" cy="119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17"/>
              </a:lnSpc>
            </a:pPr>
            <a:r>
              <a:rPr lang="en-US" sz="7300">
                <a:solidFill>
                  <a:srgbClr val="34332C"/>
                </a:solidFill>
                <a:latin typeface="마카롱"/>
                <a:ea typeface="마카롱"/>
                <a:cs typeface="마카롱"/>
                <a:sym typeface="마카롱"/>
              </a:rPr>
              <a:t>프로젝트 목표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34316" y="1515310"/>
            <a:ext cx="4039366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Group Project Presentation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51370" y="6422374"/>
            <a:ext cx="3919913" cy="1188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광고, 마케팅 전략, 소셜 미디어 활용, 그리고 고품질의 제품 또는 서비스를 제공합니다.</a:t>
            </a: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84044" y="6422374"/>
            <a:ext cx="3919913" cy="1188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제품 판매량 증가를 위해 품질 좋은 제품과 효과적인 마케팅 전략의 조화가 중요합니다.</a:t>
            </a: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16717" y="6422374"/>
            <a:ext cx="3919913" cy="1188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제품이나 서비스를 지속적으로 개선하고, 고객과의 소통을 유지하는 것이 중요합니다.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351370" y="5167366"/>
            <a:ext cx="3919913" cy="868643"/>
            <a:chOff x="0" y="0"/>
            <a:chExt cx="918857" cy="2036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8857" cy="203616"/>
            </a:xfrm>
            <a:custGeom>
              <a:avLst/>
              <a:gdLst/>
              <a:ahLst/>
              <a:cxnLst/>
              <a:rect r="r" b="b" t="t" l="l"/>
              <a:pathLst>
                <a:path h="203616" w="918857">
                  <a:moveTo>
                    <a:pt x="0" y="0"/>
                  </a:moveTo>
                  <a:lnTo>
                    <a:pt x="918857" y="0"/>
                  </a:lnTo>
                  <a:lnTo>
                    <a:pt x="918857" y="203616"/>
                  </a:lnTo>
                  <a:lnTo>
                    <a:pt x="0" y="203616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18857" cy="251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184044" y="5167366"/>
            <a:ext cx="3919913" cy="868643"/>
            <a:chOff x="0" y="0"/>
            <a:chExt cx="918857" cy="2036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8857" cy="203616"/>
            </a:xfrm>
            <a:custGeom>
              <a:avLst/>
              <a:gdLst/>
              <a:ahLst/>
              <a:cxnLst/>
              <a:rect r="r" b="b" t="t" l="l"/>
              <a:pathLst>
                <a:path h="203616" w="918857">
                  <a:moveTo>
                    <a:pt x="0" y="0"/>
                  </a:moveTo>
                  <a:lnTo>
                    <a:pt x="918857" y="0"/>
                  </a:lnTo>
                  <a:lnTo>
                    <a:pt x="918857" y="203616"/>
                  </a:lnTo>
                  <a:lnTo>
                    <a:pt x="0" y="203616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18857" cy="251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016717" y="5167366"/>
            <a:ext cx="3919913" cy="868643"/>
            <a:chOff x="0" y="0"/>
            <a:chExt cx="918857" cy="2036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8857" cy="203616"/>
            </a:xfrm>
            <a:custGeom>
              <a:avLst/>
              <a:gdLst/>
              <a:ahLst/>
              <a:cxnLst/>
              <a:rect r="r" b="b" t="t" l="l"/>
              <a:pathLst>
                <a:path h="203616" w="918857">
                  <a:moveTo>
                    <a:pt x="0" y="0"/>
                  </a:moveTo>
                  <a:lnTo>
                    <a:pt x="918857" y="0"/>
                  </a:lnTo>
                  <a:lnTo>
                    <a:pt x="918857" y="203616"/>
                  </a:lnTo>
                  <a:lnTo>
                    <a:pt x="0" y="203616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18857" cy="251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924682" y="5293649"/>
            <a:ext cx="3346601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브랜드 인지도 향상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757355" y="5293649"/>
            <a:ext cx="3346601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제품 판매량 증가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590028" y="5293649"/>
            <a:ext cx="3346601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타깃 고객 확보</a:t>
            </a:r>
          </a:p>
        </p:txBody>
      </p:sp>
      <p:sp>
        <p:nvSpPr>
          <p:cNvPr name="AutoShape 32" id="32"/>
          <p:cNvSpPr/>
          <p:nvPr/>
        </p:nvSpPr>
        <p:spPr>
          <a:xfrm>
            <a:off x="2653094" y="5409854"/>
            <a:ext cx="0" cy="383667"/>
          </a:xfrm>
          <a:prstGeom prst="line">
            <a:avLst/>
          </a:prstGeom>
          <a:ln cap="flat" w="47625">
            <a:solidFill>
              <a:srgbClr val="FFDF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7485767" y="5409854"/>
            <a:ext cx="0" cy="383667"/>
          </a:xfrm>
          <a:prstGeom prst="line">
            <a:avLst/>
          </a:prstGeom>
          <a:ln cap="flat" w="47625">
            <a:solidFill>
              <a:srgbClr val="FFDF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12318441" y="5409854"/>
            <a:ext cx="0" cy="383667"/>
          </a:xfrm>
          <a:prstGeom prst="line">
            <a:avLst/>
          </a:prstGeom>
          <a:ln cap="flat" w="47625">
            <a:solidFill>
              <a:srgbClr val="FFDF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2018815" y="3472251"/>
            <a:ext cx="14250370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3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프로젝트의 목표는 브랜드 인지도 향상, 제품 판매량 증가, 타깃 고객 확보 등이 있습니다.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307" y="1001327"/>
            <a:ext cx="16431386" cy="8284345"/>
            <a:chOff x="0" y="0"/>
            <a:chExt cx="4327608" cy="2181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7608" cy="2181885"/>
            </a:xfrm>
            <a:custGeom>
              <a:avLst/>
              <a:gdLst/>
              <a:ahLst/>
              <a:cxnLst/>
              <a:rect r="r" b="b" t="t" l="l"/>
              <a:pathLst>
                <a:path h="2181885" w="4327608">
                  <a:moveTo>
                    <a:pt x="0" y="0"/>
                  </a:moveTo>
                  <a:lnTo>
                    <a:pt x="4327608" y="0"/>
                  </a:lnTo>
                  <a:lnTo>
                    <a:pt x="4327608" y="2181885"/>
                  </a:lnTo>
                  <a:lnTo>
                    <a:pt x="0" y="2181885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27608" cy="2229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6216" y="756509"/>
            <a:ext cx="1511496" cy="1636705"/>
          </a:xfrm>
          <a:custGeom>
            <a:avLst/>
            <a:gdLst/>
            <a:ahLst/>
            <a:cxnLst/>
            <a:rect r="r" b="b" t="t" l="l"/>
            <a:pathLst>
              <a:path h="1636705" w="1511496">
                <a:moveTo>
                  <a:pt x="0" y="0"/>
                </a:moveTo>
                <a:lnTo>
                  <a:pt x="1511496" y="0"/>
                </a:lnTo>
                <a:lnTo>
                  <a:pt x="1511496" y="1636705"/>
                </a:lnTo>
                <a:lnTo>
                  <a:pt x="0" y="16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521" t="0" r="-11307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603620" y="4022607"/>
            <a:ext cx="3062659" cy="2051062"/>
            <a:chOff x="0" y="0"/>
            <a:chExt cx="717910" cy="4807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7910" cy="480784"/>
            </a:xfrm>
            <a:custGeom>
              <a:avLst/>
              <a:gdLst/>
              <a:ahLst/>
              <a:cxnLst/>
              <a:rect r="r" b="b" t="t" l="l"/>
              <a:pathLst>
                <a:path h="480784" w="717910">
                  <a:moveTo>
                    <a:pt x="0" y="0"/>
                  </a:moveTo>
                  <a:lnTo>
                    <a:pt x="717910" y="0"/>
                  </a:lnTo>
                  <a:lnTo>
                    <a:pt x="717910" y="480784"/>
                  </a:lnTo>
                  <a:lnTo>
                    <a:pt x="0" y="480784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717910" cy="5569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0" indent="0" lvl="0">
                <a:lnSpc>
                  <a:spcPts val="321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943953" y="4022607"/>
            <a:ext cx="3062659" cy="2051062"/>
            <a:chOff x="0" y="0"/>
            <a:chExt cx="717910" cy="4807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7910" cy="480784"/>
            </a:xfrm>
            <a:custGeom>
              <a:avLst/>
              <a:gdLst/>
              <a:ahLst/>
              <a:cxnLst/>
              <a:rect r="r" b="b" t="t" l="l"/>
              <a:pathLst>
                <a:path h="480784" w="717910">
                  <a:moveTo>
                    <a:pt x="0" y="0"/>
                  </a:moveTo>
                  <a:lnTo>
                    <a:pt x="717910" y="0"/>
                  </a:lnTo>
                  <a:lnTo>
                    <a:pt x="717910" y="480784"/>
                  </a:lnTo>
                  <a:lnTo>
                    <a:pt x="0" y="480784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717910" cy="5569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0" indent="0" lvl="0">
                <a:lnSpc>
                  <a:spcPts val="321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82837" y="4022607"/>
            <a:ext cx="3062659" cy="2051062"/>
            <a:chOff x="0" y="0"/>
            <a:chExt cx="717910" cy="4807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7910" cy="480784"/>
            </a:xfrm>
            <a:custGeom>
              <a:avLst/>
              <a:gdLst/>
              <a:ahLst/>
              <a:cxnLst/>
              <a:rect r="r" b="b" t="t" l="l"/>
              <a:pathLst>
                <a:path h="480784" w="717910">
                  <a:moveTo>
                    <a:pt x="0" y="0"/>
                  </a:moveTo>
                  <a:lnTo>
                    <a:pt x="717910" y="0"/>
                  </a:lnTo>
                  <a:lnTo>
                    <a:pt x="717910" y="480784"/>
                  </a:lnTo>
                  <a:lnTo>
                    <a:pt x="0" y="480784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717910" cy="5569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0" indent="0" lvl="0">
                <a:lnSpc>
                  <a:spcPts val="321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21721" y="4022607"/>
            <a:ext cx="3062659" cy="2051062"/>
            <a:chOff x="0" y="0"/>
            <a:chExt cx="717910" cy="4807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7910" cy="480784"/>
            </a:xfrm>
            <a:custGeom>
              <a:avLst/>
              <a:gdLst/>
              <a:ahLst/>
              <a:cxnLst/>
              <a:rect r="r" b="b" t="t" l="l"/>
              <a:pathLst>
                <a:path h="480784" w="717910">
                  <a:moveTo>
                    <a:pt x="0" y="0"/>
                  </a:moveTo>
                  <a:lnTo>
                    <a:pt x="717910" y="0"/>
                  </a:lnTo>
                  <a:lnTo>
                    <a:pt x="717910" y="480784"/>
                  </a:lnTo>
                  <a:lnTo>
                    <a:pt x="0" y="480784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717910" cy="5569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0" indent="0" lvl="0">
                <a:lnSpc>
                  <a:spcPts val="321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603620" y="6035827"/>
            <a:ext cx="3062659" cy="887178"/>
            <a:chOff x="0" y="0"/>
            <a:chExt cx="717910" cy="2079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7910" cy="207961"/>
            </a:xfrm>
            <a:custGeom>
              <a:avLst/>
              <a:gdLst/>
              <a:ahLst/>
              <a:cxnLst/>
              <a:rect r="r" b="b" t="t" l="l"/>
              <a:pathLst>
                <a:path h="207961" w="717910">
                  <a:moveTo>
                    <a:pt x="0" y="0"/>
                  </a:moveTo>
                  <a:lnTo>
                    <a:pt x="717910" y="0"/>
                  </a:lnTo>
                  <a:lnTo>
                    <a:pt x="717910" y="207961"/>
                  </a:lnTo>
                  <a:lnTo>
                    <a:pt x="0" y="207961"/>
                  </a:lnTo>
                  <a:close/>
                </a:path>
              </a:pathLst>
            </a:custGeom>
            <a:solidFill>
              <a:srgbClr val="FFF8DE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17910" cy="255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943953" y="6035827"/>
            <a:ext cx="3062659" cy="887178"/>
            <a:chOff x="0" y="0"/>
            <a:chExt cx="717910" cy="20796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7910" cy="207961"/>
            </a:xfrm>
            <a:custGeom>
              <a:avLst/>
              <a:gdLst/>
              <a:ahLst/>
              <a:cxnLst/>
              <a:rect r="r" b="b" t="t" l="l"/>
              <a:pathLst>
                <a:path h="207961" w="717910">
                  <a:moveTo>
                    <a:pt x="0" y="0"/>
                  </a:moveTo>
                  <a:lnTo>
                    <a:pt x="717910" y="0"/>
                  </a:lnTo>
                  <a:lnTo>
                    <a:pt x="717910" y="207961"/>
                  </a:lnTo>
                  <a:lnTo>
                    <a:pt x="0" y="207961"/>
                  </a:lnTo>
                  <a:close/>
                </a:path>
              </a:pathLst>
            </a:custGeom>
            <a:solidFill>
              <a:srgbClr val="FFF8DE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17910" cy="255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282837" y="6035827"/>
            <a:ext cx="3062659" cy="887178"/>
            <a:chOff x="0" y="0"/>
            <a:chExt cx="717910" cy="2079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7910" cy="207961"/>
            </a:xfrm>
            <a:custGeom>
              <a:avLst/>
              <a:gdLst/>
              <a:ahLst/>
              <a:cxnLst/>
              <a:rect r="r" b="b" t="t" l="l"/>
              <a:pathLst>
                <a:path h="207961" w="717910">
                  <a:moveTo>
                    <a:pt x="0" y="0"/>
                  </a:moveTo>
                  <a:lnTo>
                    <a:pt x="717910" y="0"/>
                  </a:lnTo>
                  <a:lnTo>
                    <a:pt x="717910" y="207961"/>
                  </a:lnTo>
                  <a:lnTo>
                    <a:pt x="0" y="207961"/>
                  </a:lnTo>
                  <a:close/>
                </a:path>
              </a:pathLst>
            </a:custGeom>
            <a:solidFill>
              <a:srgbClr val="FFF8DE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717910" cy="255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621721" y="6035827"/>
            <a:ext cx="3062659" cy="887178"/>
            <a:chOff x="0" y="0"/>
            <a:chExt cx="717910" cy="20796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7910" cy="207961"/>
            </a:xfrm>
            <a:custGeom>
              <a:avLst/>
              <a:gdLst/>
              <a:ahLst/>
              <a:cxnLst/>
              <a:rect r="r" b="b" t="t" l="l"/>
              <a:pathLst>
                <a:path h="207961" w="717910">
                  <a:moveTo>
                    <a:pt x="0" y="0"/>
                  </a:moveTo>
                  <a:lnTo>
                    <a:pt x="717910" y="0"/>
                  </a:lnTo>
                  <a:lnTo>
                    <a:pt x="717910" y="207961"/>
                  </a:lnTo>
                  <a:lnTo>
                    <a:pt x="0" y="207961"/>
                  </a:lnTo>
                  <a:close/>
                </a:path>
              </a:pathLst>
            </a:custGeom>
            <a:solidFill>
              <a:srgbClr val="FFF8DE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717910" cy="255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0" id="30"/>
          <p:cNvSpPr/>
          <p:nvPr/>
        </p:nvSpPr>
        <p:spPr>
          <a:xfrm>
            <a:off x="1660267" y="8195872"/>
            <a:ext cx="14967466" cy="0"/>
          </a:xfrm>
          <a:prstGeom prst="line">
            <a:avLst/>
          </a:prstGeom>
          <a:ln cap="flat" w="19050">
            <a:solidFill>
              <a:srgbClr val="34332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3770623" y="7831546"/>
            <a:ext cx="728653" cy="728653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F60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110956" y="7831546"/>
            <a:ext cx="728653" cy="728653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F60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449840" y="7831546"/>
            <a:ext cx="728653" cy="728653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F60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788724" y="7831546"/>
            <a:ext cx="728653" cy="728653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F60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5686082" y="1753642"/>
            <a:ext cx="6915837" cy="119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17"/>
              </a:lnSpc>
            </a:pPr>
            <a:r>
              <a:rPr lang="en-US" sz="7300">
                <a:solidFill>
                  <a:srgbClr val="34332C"/>
                </a:solidFill>
                <a:latin typeface="마카롱"/>
                <a:ea typeface="마카롱"/>
                <a:cs typeface="마카롱"/>
                <a:sym typeface="마카롱"/>
              </a:rPr>
              <a:t>프로젝트 진행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534316" y="1515310"/>
            <a:ext cx="4039366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Group Project Presentation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980516" y="4415869"/>
            <a:ext cx="2308867" cy="1188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목표 고객층 분석, 경쟁 제품 연구, 시장 트렌드 파악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320849" y="4415869"/>
            <a:ext cx="2308867" cy="1188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제품 포지셔닝, 차별화 전략 도출, 마케팅 믹스(4P) 전략 수립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659733" y="4415869"/>
            <a:ext cx="2308867" cy="1188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구체적인 마케팅 캠페인 계획, 타임라인 설정, 예산 책정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998617" y="4215844"/>
            <a:ext cx="2308867" cy="1588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마케팅 캠페인 실행, 성과 측정 및 분석, 피드백 반영 및 전략 조정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603620" y="6171377"/>
            <a:ext cx="3062659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시장 조사 및 분석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943953" y="6171377"/>
            <a:ext cx="3062659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마케팅 전략 수립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282837" y="6171377"/>
            <a:ext cx="3062659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실행 계획 수립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621721" y="6171377"/>
            <a:ext cx="3062659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실행 및 평가</a:t>
            </a:r>
          </a:p>
        </p:txBody>
      </p:sp>
      <p:sp>
        <p:nvSpPr>
          <p:cNvPr name="AutoShape 53" id="53"/>
          <p:cNvSpPr/>
          <p:nvPr/>
        </p:nvSpPr>
        <p:spPr>
          <a:xfrm>
            <a:off x="4144474" y="6923005"/>
            <a:ext cx="0" cy="908541"/>
          </a:xfrm>
          <a:prstGeom prst="line">
            <a:avLst/>
          </a:prstGeom>
          <a:ln cap="flat" w="19050">
            <a:solidFill>
              <a:srgbClr val="34332C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>
            <a:off x="7465033" y="6923005"/>
            <a:ext cx="0" cy="908541"/>
          </a:xfrm>
          <a:prstGeom prst="line">
            <a:avLst/>
          </a:prstGeom>
          <a:ln cap="flat" w="19050">
            <a:solidFill>
              <a:srgbClr val="34332C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>
            <a:off x="10823692" y="6923005"/>
            <a:ext cx="0" cy="908541"/>
          </a:xfrm>
          <a:prstGeom prst="line">
            <a:avLst/>
          </a:prstGeom>
          <a:ln cap="flat" w="19050">
            <a:solidFill>
              <a:srgbClr val="34332C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>
            <a:off x="14143526" y="6923005"/>
            <a:ext cx="0" cy="908541"/>
          </a:xfrm>
          <a:prstGeom prst="line">
            <a:avLst/>
          </a:prstGeom>
          <a:ln cap="flat" w="19050">
            <a:solidFill>
              <a:srgbClr val="34332C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57" id="57"/>
          <p:cNvSpPr txBox="true"/>
          <p:nvPr/>
        </p:nvSpPr>
        <p:spPr>
          <a:xfrm rot="0">
            <a:off x="3877445" y="7887833"/>
            <a:ext cx="534059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01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207528" y="7887833"/>
            <a:ext cx="534059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02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535184" y="7887833"/>
            <a:ext cx="534059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03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886021" y="7887833"/>
            <a:ext cx="534059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307" y="1001327"/>
            <a:ext cx="16431386" cy="8284345"/>
            <a:chOff x="0" y="0"/>
            <a:chExt cx="4327608" cy="2181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7608" cy="2181885"/>
            </a:xfrm>
            <a:custGeom>
              <a:avLst/>
              <a:gdLst/>
              <a:ahLst/>
              <a:cxnLst/>
              <a:rect r="r" b="b" t="t" l="l"/>
              <a:pathLst>
                <a:path h="2181885" w="4327608">
                  <a:moveTo>
                    <a:pt x="0" y="0"/>
                  </a:moveTo>
                  <a:lnTo>
                    <a:pt x="4327608" y="0"/>
                  </a:lnTo>
                  <a:lnTo>
                    <a:pt x="4327608" y="2181885"/>
                  </a:lnTo>
                  <a:lnTo>
                    <a:pt x="0" y="2181885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27608" cy="2229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6216" y="756509"/>
            <a:ext cx="1511496" cy="1636705"/>
          </a:xfrm>
          <a:custGeom>
            <a:avLst/>
            <a:gdLst/>
            <a:ahLst/>
            <a:cxnLst/>
            <a:rect r="r" b="b" t="t" l="l"/>
            <a:pathLst>
              <a:path h="1636705" w="1511496">
                <a:moveTo>
                  <a:pt x="0" y="0"/>
                </a:moveTo>
                <a:lnTo>
                  <a:pt x="1511496" y="0"/>
                </a:lnTo>
                <a:lnTo>
                  <a:pt x="1511496" y="1636705"/>
                </a:lnTo>
                <a:lnTo>
                  <a:pt x="0" y="16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521" t="0" r="-1130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686082" y="1753642"/>
            <a:ext cx="6915837" cy="119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17"/>
              </a:lnSpc>
            </a:pPr>
            <a:r>
              <a:rPr lang="en-US" sz="7300">
                <a:solidFill>
                  <a:srgbClr val="34332C"/>
                </a:solidFill>
                <a:latin typeface="마카롱"/>
                <a:ea typeface="마카롱"/>
                <a:cs typeface="마카롱"/>
                <a:sym typeface="마카롱"/>
              </a:rPr>
              <a:t>프로젝트 성과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34316" y="1515310"/>
            <a:ext cx="4039366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Group Project Presentation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883419" y="3251056"/>
            <a:ext cx="14521161" cy="5568758"/>
            <a:chOff x="0" y="0"/>
            <a:chExt cx="3403867" cy="13053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03867" cy="1305358"/>
            </a:xfrm>
            <a:custGeom>
              <a:avLst/>
              <a:gdLst/>
              <a:ahLst/>
              <a:cxnLst/>
              <a:rect r="r" b="b" t="t" l="l"/>
              <a:pathLst>
                <a:path h="1305358" w="3403867">
                  <a:moveTo>
                    <a:pt x="0" y="0"/>
                  </a:moveTo>
                  <a:lnTo>
                    <a:pt x="3403867" y="0"/>
                  </a:lnTo>
                  <a:lnTo>
                    <a:pt x="3403867" y="1305358"/>
                  </a:lnTo>
                  <a:lnTo>
                    <a:pt x="0" y="1305358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3403867" cy="1381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0" indent="0" lvl="0">
                <a:lnSpc>
                  <a:spcPts val="3213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777066" y="3287736"/>
            <a:ext cx="5649706" cy="567933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>
            <a:off x="9134475" y="3850724"/>
            <a:ext cx="0" cy="4458103"/>
          </a:xfrm>
          <a:prstGeom prst="line">
            <a:avLst/>
          </a:prstGeom>
          <a:ln cap="flat" w="19050">
            <a:solidFill>
              <a:srgbClr val="34332C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2361964" y="5353131"/>
            <a:ext cx="6213873" cy="2788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3"/>
              </a:lnSpc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이번 마케팅 프로젝트는 새로운 제품 출시에 대한 종합적인 마케팅 전략을 수립하고 실행하는 것을 목표로 하였습니다. </a:t>
            </a:r>
          </a:p>
          <a:p>
            <a:pPr algn="just">
              <a:lnSpc>
                <a:spcPts val="3213"/>
              </a:lnSpc>
            </a:pPr>
          </a:p>
          <a:p>
            <a:pPr algn="just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프로젝트 성과로는 증가한 매출액이나 수익, 브랜드 인지도의 향상, 고객 충성도 증가, 새로운 고객 유치율 증가 등이 있습니다. 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361964" y="3929200"/>
            <a:ext cx="6213873" cy="868643"/>
            <a:chOff x="0" y="0"/>
            <a:chExt cx="1456578" cy="2036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56578" cy="203616"/>
            </a:xfrm>
            <a:custGeom>
              <a:avLst/>
              <a:gdLst/>
              <a:ahLst/>
              <a:cxnLst/>
              <a:rect r="r" b="b" t="t" l="l"/>
              <a:pathLst>
                <a:path h="203616" w="1456578">
                  <a:moveTo>
                    <a:pt x="0" y="0"/>
                  </a:moveTo>
                  <a:lnTo>
                    <a:pt x="1456578" y="0"/>
                  </a:lnTo>
                  <a:lnTo>
                    <a:pt x="1456578" y="203616"/>
                  </a:lnTo>
                  <a:lnTo>
                    <a:pt x="0" y="203616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456578" cy="251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935275" y="4055483"/>
            <a:ext cx="5640561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매출액, 브랜드 인지도, 고객 충성도</a:t>
            </a:r>
          </a:p>
        </p:txBody>
      </p:sp>
      <p:sp>
        <p:nvSpPr>
          <p:cNvPr name="AutoShape 18" id="18"/>
          <p:cNvSpPr/>
          <p:nvPr/>
        </p:nvSpPr>
        <p:spPr>
          <a:xfrm>
            <a:off x="2663688" y="4171688"/>
            <a:ext cx="0" cy="383667"/>
          </a:xfrm>
          <a:prstGeom prst="line">
            <a:avLst/>
          </a:prstGeom>
          <a:ln cap="flat" w="47625">
            <a:solidFill>
              <a:srgbClr val="FFDF6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307" y="1001327"/>
            <a:ext cx="16431386" cy="8284345"/>
            <a:chOff x="0" y="0"/>
            <a:chExt cx="4327608" cy="2181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7608" cy="2181885"/>
            </a:xfrm>
            <a:custGeom>
              <a:avLst/>
              <a:gdLst/>
              <a:ahLst/>
              <a:cxnLst/>
              <a:rect r="r" b="b" t="t" l="l"/>
              <a:pathLst>
                <a:path h="2181885" w="4327608">
                  <a:moveTo>
                    <a:pt x="0" y="0"/>
                  </a:moveTo>
                  <a:lnTo>
                    <a:pt x="4327608" y="0"/>
                  </a:lnTo>
                  <a:lnTo>
                    <a:pt x="4327608" y="2181885"/>
                  </a:lnTo>
                  <a:lnTo>
                    <a:pt x="0" y="2181885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27608" cy="2229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6216" y="756509"/>
            <a:ext cx="1511496" cy="1636705"/>
          </a:xfrm>
          <a:custGeom>
            <a:avLst/>
            <a:gdLst/>
            <a:ahLst/>
            <a:cxnLst/>
            <a:rect r="r" b="b" t="t" l="l"/>
            <a:pathLst>
              <a:path h="1636705" w="1511496">
                <a:moveTo>
                  <a:pt x="0" y="0"/>
                </a:moveTo>
                <a:lnTo>
                  <a:pt x="1511496" y="0"/>
                </a:lnTo>
                <a:lnTo>
                  <a:pt x="1511496" y="1636705"/>
                </a:lnTo>
                <a:lnTo>
                  <a:pt x="0" y="16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521" t="0" r="-11307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027824" y="3546661"/>
            <a:ext cx="10075516" cy="868643"/>
            <a:chOff x="0" y="0"/>
            <a:chExt cx="2361775" cy="2036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1775" cy="203616"/>
            </a:xfrm>
            <a:custGeom>
              <a:avLst/>
              <a:gdLst/>
              <a:ahLst/>
              <a:cxnLst/>
              <a:rect r="r" b="b" t="t" l="l"/>
              <a:pathLst>
                <a:path h="203616" w="2361775">
                  <a:moveTo>
                    <a:pt x="0" y="0"/>
                  </a:moveTo>
                  <a:lnTo>
                    <a:pt x="2361775" y="0"/>
                  </a:lnTo>
                  <a:lnTo>
                    <a:pt x="2361775" y="203616"/>
                  </a:lnTo>
                  <a:lnTo>
                    <a:pt x="0" y="203616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1775" cy="251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027824" y="4802980"/>
            <a:ext cx="10075516" cy="868643"/>
            <a:chOff x="0" y="0"/>
            <a:chExt cx="2361775" cy="2036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61775" cy="203616"/>
            </a:xfrm>
            <a:custGeom>
              <a:avLst/>
              <a:gdLst/>
              <a:ahLst/>
              <a:cxnLst/>
              <a:rect r="r" b="b" t="t" l="l"/>
              <a:pathLst>
                <a:path h="203616" w="2361775">
                  <a:moveTo>
                    <a:pt x="0" y="0"/>
                  </a:moveTo>
                  <a:lnTo>
                    <a:pt x="2361775" y="0"/>
                  </a:lnTo>
                  <a:lnTo>
                    <a:pt x="2361775" y="203616"/>
                  </a:lnTo>
                  <a:lnTo>
                    <a:pt x="0" y="203616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361775" cy="251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027824" y="6062149"/>
            <a:ext cx="10075516" cy="868643"/>
            <a:chOff x="0" y="0"/>
            <a:chExt cx="2361775" cy="2036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61775" cy="203616"/>
            </a:xfrm>
            <a:custGeom>
              <a:avLst/>
              <a:gdLst/>
              <a:ahLst/>
              <a:cxnLst/>
              <a:rect r="r" b="b" t="t" l="l"/>
              <a:pathLst>
                <a:path h="203616" w="2361775">
                  <a:moveTo>
                    <a:pt x="0" y="0"/>
                  </a:moveTo>
                  <a:lnTo>
                    <a:pt x="2361775" y="0"/>
                  </a:lnTo>
                  <a:lnTo>
                    <a:pt x="2361775" y="203616"/>
                  </a:lnTo>
                  <a:lnTo>
                    <a:pt x="0" y="203616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361775" cy="251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6329547" y="3789149"/>
            <a:ext cx="0" cy="383667"/>
          </a:xfrm>
          <a:prstGeom prst="line">
            <a:avLst/>
          </a:prstGeom>
          <a:ln cap="flat" w="47625">
            <a:solidFill>
              <a:srgbClr val="FFDF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6329547" y="5045469"/>
            <a:ext cx="0" cy="383667"/>
          </a:xfrm>
          <a:prstGeom prst="line">
            <a:avLst/>
          </a:prstGeom>
          <a:ln cap="flat" w="47625">
            <a:solidFill>
              <a:srgbClr val="FFDF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6329547" y="6304637"/>
            <a:ext cx="0" cy="383667"/>
          </a:xfrm>
          <a:prstGeom prst="line">
            <a:avLst/>
          </a:prstGeom>
          <a:ln cap="flat" w="47625">
            <a:solidFill>
              <a:srgbClr val="FFDF6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2184660" y="7321317"/>
            <a:ext cx="13918679" cy="1347850"/>
            <a:chOff x="0" y="0"/>
            <a:chExt cx="3262641" cy="3159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62641" cy="315946"/>
            </a:xfrm>
            <a:custGeom>
              <a:avLst/>
              <a:gdLst/>
              <a:ahLst/>
              <a:cxnLst/>
              <a:rect r="r" b="b" t="t" l="l"/>
              <a:pathLst>
                <a:path h="315946" w="3262641">
                  <a:moveTo>
                    <a:pt x="0" y="0"/>
                  </a:moveTo>
                  <a:lnTo>
                    <a:pt x="3262641" y="0"/>
                  </a:lnTo>
                  <a:lnTo>
                    <a:pt x="3262641" y="315946"/>
                  </a:lnTo>
                  <a:lnTo>
                    <a:pt x="0" y="315946"/>
                  </a:lnTo>
                  <a:close/>
                </a:path>
              </a:pathLst>
            </a:custGeom>
            <a:solidFill>
              <a:srgbClr val="FFF8DE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3262641" cy="36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184660" y="3546661"/>
            <a:ext cx="3595513" cy="3384131"/>
            <a:chOff x="0" y="0"/>
            <a:chExt cx="557039" cy="5242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7039" cy="524291"/>
            </a:xfrm>
            <a:custGeom>
              <a:avLst/>
              <a:gdLst/>
              <a:ahLst/>
              <a:cxnLst/>
              <a:rect r="r" b="b" t="t" l="l"/>
              <a:pathLst>
                <a:path h="524291" w="557039">
                  <a:moveTo>
                    <a:pt x="0" y="0"/>
                  </a:moveTo>
                  <a:lnTo>
                    <a:pt x="557039" y="0"/>
                  </a:lnTo>
                  <a:lnTo>
                    <a:pt x="557039" y="524291"/>
                  </a:lnTo>
                  <a:lnTo>
                    <a:pt x="0" y="524291"/>
                  </a:lnTo>
                  <a:close/>
                </a:path>
              </a:pathLst>
            </a:custGeom>
            <a:blipFill>
              <a:blip r:embed="rId4"/>
              <a:stretch>
                <a:fillRect l="-20634" t="0" r="-20634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4614515" y="1753642"/>
            <a:ext cx="9058971" cy="119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17"/>
              </a:lnSpc>
            </a:pPr>
            <a:r>
              <a:rPr lang="en-US" sz="7300">
                <a:solidFill>
                  <a:srgbClr val="34332C"/>
                </a:solidFill>
                <a:latin typeface="마카롱"/>
                <a:ea typeface="마카롱"/>
                <a:cs typeface="마카롱"/>
                <a:sym typeface="마카롱"/>
              </a:rPr>
              <a:t>프로젝트 발전 방향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34316" y="1515310"/>
            <a:ext cx="4039366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Group Project Presentation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601135" y="3672943"/>
            <a:ext cx="9383963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고객 중심의 마케팅 전략 강화하여 장기적인 관계 구축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601135" y="4929263"/>
            <a:ext cx="9383963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새로운 기술의 적극적인 활용을 통한 혁신적인 프로젝트 실행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01135" y="6188432"/>
            <a:ext cx="9383963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기업 가치와 영향력을 통한 지속 가능한 마케팅 실행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600659" y="7562997"/>
            <a:ext cx="13086682" cy="788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고객 중심의 마케팅 전략을 강화하고, 변화하는 시장 환경에 유연하게 대응하여 브랜드의 가치를 지속적으로 높여 나가겠습니다.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307" y="1001327"/>
            <a:ext cx="16431386" cy="8284345"/>
            <a:chOff x="0" y="0"/>
            <a:chExt cx="4327608" cy="2181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7608" cy="2181885"/>
            </a:xfrm>
            <a:custGeom>
              <a:avLst/>
              <a:gdLst/>
              <a:ahLst/>
              <a:cxnLst/>
              <a:rect r="r" b="b" t="t" l="l"/>
              <a:pathLst>
                <a:path h="2181885" w="4327608">
                  <a:moveTo>
                    <a:pt x="0" y="0"/>
                  </a:moveTo>
                  <a:lnTo>
                    <a:pt x="4327608" y="0"/>
                  </a:lnTo>
                  <a:lnTo>
                    <a:pt x="4327608" y="2181885"/>
                  </a:lnTo>
                  <a:lnTo>
                    <a:pt x="0" y="2181885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27608" cy="2229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6216" y="756509"/>
            <a:ext cx="1511496" cy="1636705"/>
          </a:xfrm>
          <a:custGeom>
            <a:avLst/>
            <a:gdLst/>
            <a:ahLst/>
            <a:cxnLst/>
            <a:rect r="r" b="b" t="t" l="l"/>
            <a:pathLst>
              <a:path h="1636705" w="1511496">
                <a:moveTo>
                  <a:pt x="0" y="0"/>
                </a:moveTo>
                <a:lnTo>
                  <a:pt x="1511496" y="0"/>
                </a:lnTo>
                <a:lnTo>
                  <a:pt x="1511496" y="1636705"/>
                </a:lnTo>
                <a:lnTo>
                  <a:pt x="0" y="16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521" t="0" r="-1130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686082" y="3809224"/>
            <a:ext cx="6915837" cy="165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28"/>
              </a:lnSpc>
              <a:spcBef>
                <a:spcPct val="0"/>
              </a:spcBef>
            </a:pPr>
            <a:r>
              <a:rPr lang="en-US" b="true" sz="10099" strike="noStrike" u="none">
                <a:solidFill>
                  <a:srgbClr val="34332C"/>
                </a:solidFill>
                <a:latin typeface="마카롱"/>
                <a:ea typeface="마카롱"/>
                <a:cs typeface="마카롱"/>
                <a:sym typeface="마카롱"/>
              </a:rPr>
              <a:t>Q &amp; 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34316" y="1515310"/>
            <a:ext cx="4039366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Group Project Presentation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44232" y="5833124"/>
            <a:ext cx="8399535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프로젝트에 대해 궁금한 점은 질문해주세요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96976" y="8527797"/>
            <a:ext cx="1704301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발표자 이수진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06704" y="8527797"/>
            <a:ext cx="3016821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hello@reallygreatsite.com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660267" y="8195872"/>
            <a:ext cx="14967466" cy="0"/>
          </a:xfrm>
          <a:prstGeom prst="line">
            <a:avLst/>
          </a:prstGeom>
          <a:ln cap="flat" w="19050">
            <a:solidFill>
              <a:srgbClr val="3433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 flipV="true">
            <a:off x="7189879" y="8603997"/>
            <a:ext cx="0" cy="312039"/>
          </a:xfrm>
          <a:prstGeom prst="line">
            <a:avLst/>
          </a:prstGeom>
          <a:ln cap="flat" w="19050">
            <a:solidFill>
              <a:srgbClr val="3433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 flipV="true">
            <a:off x="10669583" y="8603997"/>
            <a:ext cx="0" cy="312039"/>
          </a:xfrm>
          <a:prstGeom prst="line">
            <a:avLst/>
          </a:prstGeom>
          <a:ln cap="flat" w="19050">
            <a:solidFill>
              <a:srgbClr val="3433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0964858" y="8527797"/>
            <a:ext cx="2026166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+123-456-7890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307" y="1001327"/>
            <a:ext cx="16431386" cy="8284345"/>
            <a:chOff x="0" y="0"/>
            <a:chExt cx="4327608" cy="2181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7608" cy="2181885"/>
            </a:xfrm>
            <a:custGeom>
              <a:avLst/>
              <a:gdLst/>
              <a:ahLst/>
              <a:cxnLst/>
              <a:rect r="r" b="b" t="t" l="l"/>
              <a:pathLst>
                <a:path h="2181885" w="4327608">
                  <a:moveTo>
                    <a:pt x="0" y="0"/>
                  </a:moveTo>
                  <a:lnTo>
                    <a:pt x="4327608" y="0"/>
                  </a:lnTo>
                  <a:lnTo>
                    <a:pt x="4327608" y="2181885"/>
                  </a:lnTo>
                  <a:lnTo>
                    <a:pt x="0" y="2181885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27608" cy="2229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6216" y="756509"/>
            <a:ext cx="1511496" cy="1636705"/>
          </a:xfrm>
          <a:custGeom>
            <a:avLst/>
            <a:gdLst/>
            <a:ahLst/>
            <a:cxnLst/>
            <a:rect r="r" b="b" t="t" l="l"/>
            <a:pathLst>
              <a:path h="1636705" w="1511496">
                <a:moveTo>
                  <a:pt x="0" y="0"/>
                </a:moveTo>
                <a:lnTo>
                  <a:pt x="1511496" y="0"/>
                </a:lnTo>
                <a:lnTo>
                  <a:pt x="1511496" y="1636705"/>
                </a:lnTo>
                <a:lnTo>
                  <a:pt x="0" y="16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521" t="0" r="-1130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534316" y="1515310"/>
            <a:ext cx="4039366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Group Project Presentation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96976" y="8527797"/>
            <a:ext cx="1704301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발표자 이수진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06704" y="8527797"/>
            <a:ext cx="3016821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hello@reallygreatsite.com</a:t>
            </a:r>
          </a:p>
        </p:txBody>
      </p:sp>
      <p:sp>
        <p:nvSpPr>
          <p:cNvPr name="AutoShape 9" id="9"/>
          <p:cNvSpPr/>
          <p:nvPr/>
        </p:nvSpPr>
        <p:spPr>
          <a:xfrm>
            <a:off x="1660267" y="8195872"/>
            <a:ext cx="14967466" cy="0"/>
          </a:xfrm>
          <a:prstGeom prst="line">
            <a:avLst/>
          </a:prstGeom>
          <a:ln cap="flat" w="19050">
            <a:solidFill>
              <a:srgbClr val="3433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 flipV="true">
            <a:off x="7189879" y="8603997"/>
            <a:ext cx="0" cy="312039"/>
          </a:xfrm>
          <a:prstGeom prst="line">
            <a:avLst/>
          </a:prstGeom>
          <a:ln cap="flat" w="19050">
            <a:solidFill>
              <a:srgbClr val="3433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 flipV="true">
            <a:off x="10669583" y="8603997"/>
            <a:ext cx="0" cy="312039"/>
          </a:xfrm>
          <a:prstGeom prst="line">
            <a:avLst/>
          </a:prstGeom>
          <a:ln cap="flat" w="19050">
            <a:solidFill>
              <a:srgbClr val="3433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0964858" y="8527797"/>
            <a:ext cx="2026166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+123-456-7890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60313" y="4253482"/>
            <a:ext cx="9567375" cy="165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28"/>
              </a:lnSpc>
            </a:pPr>
            <a:r>
              <a:rPr lang="en-US" sz="10099">
                <a:solidFill>
                  <a:srgbClr val="34332C"/>
                </a:solidFill>
                <a:latin typeface="마카롱"/>
                <a:ea typeface="마카롱"/>
                <a:cs typeface="마카롱"/>
                <a:sym typeface="마카롱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DAG3Rf3O0Ow</dc:identifier>
  <dcterms:modified xsi:type="dcterms:W3CDTF">2011-08-01T06:04:30Z</dcterms:modified>
  <cp:revision>1</cp:revision>
  <dc:title>노란색 흰색 심플한 마케팅 프로젝트 프레젠테이션</dc:title>
</cp:coreProperties>
</file>